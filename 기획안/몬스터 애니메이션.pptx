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38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04266E-339D-CAE4-FD75-A45992EBDD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BA20513-0748-CEA7-AF93-13AC4A217E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539B07-DA82-8DAB-9871-0831FEC6B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6BC1F-4298-4300-A51F-0ACDF791CB8C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A4C7D9-6CFE-59F9-6DB7-7168AE8FD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84B8EA-BD83-B199-E816-4E3EFD6DC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B605C-7330-439E-A3D1-B751239638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020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806559-0007-FC73-85C4-E62698487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113378-D1F9-3660-1A9A-252FA307B2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2644587-A0D8-1A2D-2A01-307F685F9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6BC1F-4298-4300-A51F-0ACDF791CB8C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F2F59D4-F178-8E40-B924-C71E1B605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384000-B6EE-3DC3-CB1F-43F484D80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B605C-7330-439E-A3D1-B751239638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0714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0AC5AF-7E2E-9CD6-ED00-CDD92E360C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7FC1E4D-B881-5959-D4C7-9386BA05CD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453C54-6240-D78D-6692-563FF5449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6BC1F-4298-4300-A51F-0ACDF791CB8C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4C7AC4-3DBA-E8EC-446A-052EABE6A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6429259-4DF8-4DC8-6E6A-63E46C0FD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B605C-7330-439E-A3D1-B751239638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4753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822353-50B5-1459-231C-55C1D406B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A139147-88BB-8C76-90CA-78B2B4A02E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543A1CE-BD15-C453-F478-2936E58F10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AA4423-CD43-BCF3-05A7-6A028DA9B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6BC1F-4298-4300-A51F-0ACDF791CB8C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85B71F2-ED73-057A-AC9C-BC74C8D786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E79BF01-0B34-FCC6-D6D4-3E12DB7C4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B605C-7330-439E-A3D1-B751239638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63736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40506-2544-0BE7-54CC-289C2DC30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FB5004-DD93-4B3E-7F67-CD9E5B482B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6064E3D-290D-5768-ACA0-D71195358E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C098F2C-400C-9A34-60F4-0452C9EE51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8949B22-5D14-EA7A-4306-1412EAD9C5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62F0A47-573D-6E59-D747-5CB2D0DBB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6BC1F-4298-4300-A51F-0ACDF791CB8C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BCA4F79-F077-1AC1-96DB-6E8590F1A8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91CDAAD-DD11-AD46-396F-F480A9999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B605C-7330-439E-A3D1-B751239638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6649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19FDEC-7039-B39A-CC57-806DA35D0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848D753-65E3-CC09-82B2-FE9E3A47E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6BC1F-4298-4300-A51F-0ACDF791CB8C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778934A-1E73-B964-BF40-F06247A47C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711B0FD-69D2-38D7-C4DA-F5909798B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B605C-7330-439E-A3D1-B751239638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98447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9EA54A9-9D4A-0B11-BB1B-237C870CC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6BC1F-4298-4300-A51F-0ACDF791CB8C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79F3812-CABB-485D-C1F2-1A1183382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E2E71C-CB51-3900-D299-3BA2017AE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B605C-7330-439E-A3D1-B751239638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6764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E606E2-D586-6EDB-6DD2-C9F9FC54B3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BCE971-206D-662B-E210-200674B08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3B18E71-56D3-1A23-6A54-1008214A4D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F166D4-890D-AE77-6A36-4931EF70E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6BC1F-4298-4300-A51F-0ACDF791CB8C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4EF001-545A-FC72-3D54-B33A4161E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B3C3C03-2B5A-FCBF-57CE-A2BA284E2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B605C-7330-439E-A3D1-B751239638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32716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D79270-AF00-FB13-09EA-E7B500E4C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B37E7ED-DD92-A92D-19C2-06B546EBBC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B9AB5A0-EE35-B0B4-2494-06F4730E96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1CBC438-9747-B9C6-3A3B-8393F5EB29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6BC1F-4298-4300-A51F-0ACDF791CB8C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E47CF8A-BFAB-6D5A-0202-73550921F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747C5E2-D706-18EF-00DF-6306E9F84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B605C-7330-439E-A3D1-B751239638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5005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17F431-37E3-1CE7-33B9-C2EF6012D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40C8720-0F01-074E-2F1A-982CD64476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76397C9-D399-C17F-D6D3-0BECE80037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6BC1F-4298-4300-A51F-0ACDF791CB8C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EB0D240-3FBD-353A-46DD-51651D1F2D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4D27A1A-FEC5-B522-36B3-600B38A6F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B605C-7330-439E-A3D1-B751239638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82674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92B3474-F745-6446-C59E-AC2DB5E923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5DBFEFC-AD31-B6C4-5B1C-988FB977BA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8ACFBF5-02ED-5D6A-1CF9-8DC2D406D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6BC1F-4298-4300-A51F-0ACDF791CB8C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13DD5F5-B772-3531-7F77-D483B0BC2C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FD2A63B-DD31-7D24-FAE4-3D8BA7570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B605C-7330-439E-A3D1-B751239638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7880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28C1152-AA83-286C-2E3C-77C49BB4A9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E41CD1C-0CC2-1345-333B-1BAC75F508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4287B1-9375-BED2-E200-1CA07140B7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56BC1F-4298-4300-A51F-0ACDF791CB8C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A773BA-8ED6-6FF4-D40A-E359BB49DA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12BAA6-B650-7F46-3B7A-0C745C3AB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1B605C-7330-439E-A3D1-B751239638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87583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855D38AC-4B29-18EB-2BD5-23DC844F0A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664" b="52686"/>
          <a:stretch>
            <a:fillRect/>
          </a:stretch>
        </p:blipFill>
        <p:spPr>
          <a:xfrm>
            <a:off x="10756674" y="385762"/>
            <a:ext cx="1331367" cy="155257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7BBFA46-8185-5B36-C46C-B4CD8D0714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1195" y="4676775"/>
            <a:ext cx="1704975" cy="1704975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72304680-C627-C710-3F09-4438E6C505B5}"/>
              </a:ext>
            </a:extLst>
          </p:cNvPr>
          <p:cNvSpPr/>
          <p:nvPr/>
        </p:nvSpPr>
        <p:spPr>
          <a:xfrm>
            <a:off x="-76200" y="6219825"/>
            <a:ext cx="12268200" cy="6381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DC42C385-24F0-4875-A9E7-909D60C1AD8B}"/>
              </a:ext>
            </a:extLst>
          </p:cNvPr>
          <p:cNvSpPr/>
          <p:nvPr/>
        </p:nvSpPr>
        <p:spPr>
          <a:xfrm>
            <a:off x="5370908" y="4876800"/>
            <a:ext cx="620318" cy="5715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E5E19822-C127-4897-9C11-1F8CD83790A7}"/>
              </a:ext>
            </a:extLst>
          </p:cNvPr>
          <p:cNvCxnSpPr/>
          <p:nvPr/>
        </p:nvCxnSpPr>
        <p:spPr>
          <a:xfrm flipH="1">
            <a:off x="5991226" y="1381125"/>
            <a:ext cx="4765448" cy="3495675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80C25AE7-40E7-E8B6-9CCC-BDFD4B10CB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552171"/>
              </p:ext>
            </p:extLst>
          </p:nvPr>
        </p:nvGraphicFramePr>
        <p:xfrm>
          <a:off x="1933906" y="663257"/>
          <a:ext cx="5559551" cy="16438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25826">
                  <a:extLst>
                    <a:ext uri="{9D8B030D-6E8A-4147-A177-3AD203B41FA5}">
                      <a16:colId xmlns:a16="http://schemas.microsoft.com/office/drawing/2014/main" val="3234171030"/>
                    </a:ext>
                  </a:extLst>
                </a:gridCol>
                <a:gridCol w="3133725">
                  <a:extLst>
                    <a:ext uri="{9D8B030D-6E8A-4147-A177-3AD203B41FA5}">
                      <a16:colId xmlns:a16="http://schemas.microsoft.com/office/drawing/2014/main" val="356375298"/>
                    </a:ext>
                  </a:extLst>
                </a:gridCol>
              </a:tblGrid>
              <a:tr h="50186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동작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4934788"/>
                  </a:ext>
                </a:extLst>
              </a:tr>
              <a:tr h="50186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Idle</a:t>
                      </a:r>
                      <a:endParaRPr lang="ko-KR" altLang="en-US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기본 적인 </a:t>
                      </a:r>
                      <a:r>
                        <a:rPr lang="en-US" altLang="ko-KR" dirty="0" err="1"/>
                        <a:t>cctv</a:t>
                      </a:r>
                      <a:r>
                        <a:rPr lang="en-US" altLang="ko-KR" dirty="0"/>
                        <a:t>  </a:t>
                      </a:r>
                      <a:r>
                        <a:rPr lang="ko-KR" altLang="en-US" dirty="0"/>
                        <a:t>애니메이션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034679"/>
                  </a:ext>
                </a:extLst>
              </a:tr>
              <a:tr h="50186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만약 </a:t>
                      </a:r>
                      <a:r>
                        <a:rPr lang="ko-KR" altLang="en-US" dirty="0" err="1"/>
                        <a:t>빨간점에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플레이어가 </a:t>
                      </a:r>
                      <a:r>
                        <a:rPr lang="ko-KR" altLang="en-US" dirty="0" err="1"/>
                        <a:t>닿을시</a:t>
                      </a:r>
                      <a:endParaRPr lang="ko-KR" altLang="en-US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빨간레이저가</a:t>
                      </a:r>
                      <a:r>
                        <a:rPr lang="ko-KR" altLang="en-US" dirty="0"/>
                        <a:t> 즉발로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en-US" altLang="ko-KR" dirty="0" err="1"/>
                        <a:t>Cctv</a:t>
                      </a:r>
                      <a:r>
                        <a:rPr lang="en-US" altLang="ko-KR" dirty="0"/>
                        <a:t>-</a:t>
                      </a:r>
                      <a:r>
                        <a:rPr lang="ko-KR" altLang="en-US" dirty="0" err="1"/>
                        <a:t>빨간점으로</a:t>
                      </a:r>
                      <a:r>
                        <a:rPr lang="ko-KR" altLang="en-US" dirty="0"/>
                        <a:t> 발사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86459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264148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17F08D-8E9D-2A63-981E-83CDBE857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E1E43BDF-4016-3C82-86FD-26D6C4E4D6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6377053"/>
              </p:ext>
            </p:extLst>
          </p:nvPr>
        </p:nvGraphicFramePr>
        <p:xfrm>
          <a:off x="296800" y="234632"/>
          <a:ext cx="3275075" cy="100372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62954">
                  <a:extLst>
                    <a:ext uri="{9D8B030D-6E8A-4147-A177-3AD203B41FA5}">
                      <a16:colId xmlns:a16="http://schemas.microsoft.com/office/drawing/2014/main" val="3234171030"/>
                    </a:ext>
                  </a:extLst>
                </a:gridCol>
                <a:gridCol w="2412121">
                  <a:extLst>
                    <a:ext uri="{9D8B030D-6E8A-4147-A177-3AD203B41FA5}">
                      <a16:colId xmlns:a16="http://schemas.microsoft.com/office/drawing/2014/main" val="356375298"/>
                    </a:ext>
                  </a:extLst>
                </a:gridCol>
              </a:tblGrid>
              <a:tr h="50186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동작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4934788"/>
                  </a:ext>
                </a:extLst>
              </a:tr>
              <a:tr h="50186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Idle</a:t>
                      </a:r>
                      <a:endParaRPr lang="ko-KR" altLang="en-US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기본 </a:t>
                      </a:r>
                      <a:r>
                        <a:rPr lang="ko-KR" altLang="en-US" dirty="0" err="1"/>
                        <a:t>일반몹</a:t>
                      </a:r>
                      <a:r>
                        <a:rPr lang="ko-KR" altLang="en-US" dirty="0"/>
                        <a:t> </a:t>
                      </a:r>
                      <a:r>
                        <a:rPr lang="en-US" altLang="ko-KR" dirty="0"/>
                        <a:t>idle</a:t>
                      </a:r>
                      <a:r>
                        <a:rPr lang="ko-KR" altLang="en-US" dirty="0"/>
                        <a:t>상태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0346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1E564299-46A6-A742-C95E-45195DCCF9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8913509"/>
              </p:ext>
            </p:extLst>
          </p:nvPr>
        </p:nvGraphicFramePr>
        <p:xfrm>
          <a:off x="296800" y="1525187"/>
          <a:ext cx="3275075" cy="108119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17700">
                  <a:extLst>
                    <a:ext uri="{9D8B030D-6E8A-4147-A177-3AD203B41FA5}">
                      <a16:colId xmlns:a16="http://schemas.microsoft.com/office/drawing/2014/main" val="3234171030"/>
                    </a:ext>
                  </a:extLst>
                </a:gridCol>
                <a:gridCol w="1857375">
                  <a:extLst>
                    <a:ext uri="{9D8B030D-6E8A-4147-A177-3AD203B41FA5}">
                      <a16:colId xmlns:a16="http://schemas.microsoft.com/office/drawing/2014/main" val="356375298"/>
                    </a:ext>
                  </a:extLst>
                </a:gridCol>
              </a:tblGrid>
              <a:tr h="4411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동작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4934788"/>
                  </a:ext>
                </a:extLst>
              </a:tr>
              <a:tr h="50186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카메라 영역 </a:t>
                      </a:r>
                      <a:r>
                        <a:rPr lang="en-US" altLang="ko-KR" dirty="0"/>
                        <a:t>in</a:t>
                      </a:r>
                      <a:endParaRPr lang="ko-KR" altLang="en-US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Battle</a:t>
                      </a:r>
                      <a:r>
                        <a:rPr lang="ko-KR" altLang="en-US" dirty="0"/>
                        <a:t>시작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en-US" altLang="ko-KR" dirty="0"/>
                        <a:t>Idle</a:t>
                      </a:r>
                      <a:r>
                        <a:rPr lang="ko-KR" altLang="en-US" dirty="0"/>
                        <a:t>상태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034679"/>
                  </a:ext>
                </a:extLst>
              </a:tr>
            </a:tbl>
          </a:graphicData>
        </a:graphic>
      </p:graphicFrame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6DD5FB76-2AA7-4D3D-5A85-E24FD570E950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1934337" y="1238356"/>
            <a:ext cx="0" cy="28683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D1E2620-35B3-5CCB-382F-217F5B8091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2177351"/>
              </p:ext>
            </p:extLst>
          </p:nvPr>
        </p:nvGraphicFramePr>
        <p:xfrm>
          <a:off x="113538" y="2867717"/>
          <a:ext cx="4838700" cy="121294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4956">
                  <a:extLst>
                    <a:ext uri="{9D8B030D-6E8A-4147-A177-3AD203B41FA5}">
                      <a16:colId xmlns:a16="http://schemas.microsoft.com/office/drawing/2014/main" val="3234171030"/>
                    </a:ext>
                  </a:extLst>
                </a:gridCol>
                <a:gridCol w="3563744">
                  <a:extLst>
                    <a:ext uri="{9D8B030D-6E8A-4147-A177-3AD203B41FA5}">
                      <a16:colId xmlns:a16="http://schemas.microsoft.com/office/drawing/2014/main" val="356375298"/>
                    </a:ext>
                  </a:extLst>
                </a:gridCol>
              </a:tblGrid>
              <a:tr h="294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동작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4934788"/>
                  </a:ext>
                </a:extLst>
              </a:tr>
              <a:tr h="454841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플레이어한테 접근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기본 </a:t>
                      </a:r>
                      <a:r>
                        <a:rPr lang="ko-KR" altLang="en-US" dirty="0" err="1"/>
                        <a:t>일반몹</a:t>
                      </a:r>
                      <a:r>
                        <a:rPr lang="ko-KR" altLang="en-US" dirty="0"/>
                        <a:t> 움직임애니메이션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034679"/>
                  </a:ext>
                </a:extLst>
              </a:tr>
              <a:tr h="392346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3~5</a:t>
                      </a:r>
                      <a:r>
                        <a:rPr lang="ko-KR" altLang="en-US" dirty="0"/>
                        <a:t>초간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214135"/>
                  </a:ext>
                </a:extLst>
              </a:tr>
            </a:tbl>
          </a:graphicData>
        </a:graphic>
      </p:graphicFrame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18D46743-10F4-381F-FBDF-93416DD4D850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>
            <a:off x="1934337" y="2606379"/>
            <a:ext cx="598551" cy="261338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58F0472E-1982-65A7-2E32-D06F1385FA61}"/>
              </a:ext>
            </a:extLst>
          </p:cNvPr>
          <p:cNvCxnSpPr>
            <a:cxnSpLocks/>
            <a:stCxn id="9" idx="2"/>
            <a:endCxn id="18" idx="0"/>
          </p:cNvCxnSpPr>
          <p:nvPr/>
        </p:nvCxnSpPr>
        <p:spPr>
          <a:xfrm flipH="1">
            <a:off x="2389249" y="4080664"/>
            <a:ext cx="143639" cy="326033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6E0E18B-9083-4999-E625-9EE7E2E43D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6572614"/>
              </p:ext>
            </p:extLst>
          </p:nvPr>
        </p:nvGraphicFramePr>
        <p:xfrm>
          <a:off x="608074" y="4406697"/>
          <a:ext cx="3562350" cy="100372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42054">
                  <a:extLst>
                    <a:ext uri="{9D8B030D-6E8A-4147-A177-3AD203B41FA5}">
                      <a16:colId xmlns:a16="http://schemas.microsoft.com/office/drawing/2014/main" val="3234171030"/>
                    </a:ext>
                  </a:extLst>
                </a:gridCol>
                <a:gridCol w="2020296">
                  <a:extLst>
                    <a:ext uri="{9D8B030D-6E8A-4147-A177-3AD203B41FA5}">
                      <a16:colId xmlns:a16="http://schemas.microsoft.com/office/drawing/2014/main" val="356375298"/>
                    </a:ext>
                  </a:extLst>
                </a:gridCol>
              </a:tblGrid>
              <a:tr h="50186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동작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4934788"/>
                  </a:ext>
                </a:extLst>
              </a:tr>
              <a:tr h="50186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접근 완료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공격 애니메이션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034679"/>
                  </a:ext>
                </a:extLst>
              </a:tr>
            </a:tbl>
          </a:graphicData>
        </a:graphic>
      </p:graphicFrame>
      <p:graphicFrame>
        <p:nvGraphicFramePr>
          <p:cNvPr id="35" name="표 34">
            <a:extLst>
              <a:ext uri="{FF2B5EF4-FFF2-40B4-BE49-F238E27FC236}">
                <a16:creationId xmlns:a16="http://schemas.microsoft.com/office/drawing/2014/main" id="{47576DD7-8708-519A-DDC9-63F0BE3A94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955639"/>
              </p:ext>
            </p:extLst>
          </p:nvPr>
        </p:nvGraphicFramePr>
        <p:xfrm>
          <a:off x="47625" y="5515667"/>
          <a:ext cx="4838700" cy="121294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4956">
                  <a:extLst>
                    <a:ext uri="{9D8B030D-6E8A-4147-A177-3AD203B41FA5}">
                      <a16:colId xmlns:a16="http://schemas.microsoft.com/office/drawing/2014/main" val="3234171030"/>
                    </a:ext>
                  </a:extLst>
                </a:gridCol>
                <a:gridCol w="3563744">
                  <a:extLst>
                    <a:ext uri="{9D8B030D-6E8A-4147-A177-3AD203B41FA5}">
                      <a16:colId xmlns:a16="http://schemas.microsoft.com/office/drawing/2014/main" val="356375298"/>
                    </a:ext>
                  </a:extLst>
                </a:gridCol>
              </a:tblGrid>
              <a:tr h="294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동작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4934788"/>
                  </a:ext>
                </a:extLst>
              </a:tr>
              <a:tr h="454841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플레이어한테 접근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기본 </a:t>
                      </a:r>
                      <a:r>
                        <a:rPr lang="ko-KR" altLang="en-US" dirty="0" err="1"/>
                        <a:t>일반몹</a:t>
                      </a:r>
                      <a:r>
                        <a:rPr lang="ko-KR" altLang="en-US" dirty="0"/>
                        <a:t> 움직임애니메이션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034679"/>
                  </a:ext>
                </a:extLst>
              </a:tr>
              <a:tr h="392346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3~5</a:t>
                      </a:r>
                      <a:r>
                        <a:rPr lang="ko-KR" altLang="en-US" dirty="0"/>
                        <a:t>초간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214135"/>
                  </a:ext>
                </a:extLst>
              </a:tr>
            </a:tbl>
          </a:graphicData>
        </a:graphic>
      </p:graphicFrame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C2822F00-60A0-EBB1-1905-9E81393E08A4}"/>
              </a:ext>
            </a:extLst>
          </p:cNvPr>
          <p:cNvCxnSpPr>
            <a:cxnSpLocks/>
          </p:cNvCxnSpPr>
          <p:nvPr/>
        </p:nvCxnSpPr>
        <p:spPr>
          <a:xfrm>
            <a:off x="2305431" y="5332813"/>
            <a:ext cx="83818" cy="305987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그림 38">
            <a:extLst>
              <a:ext uri="{FF2B5EF4-FFF2-40B4-BE49-F238E27FC236}">
                <a16:creationId xmlns:a16="http://schemas.microsoft.com/office/drawing/2014/main" id="{A15AA06C-1E0B-CD15-9412-D8BDA5BF33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7" t="50000" r="67110"/>
          <a:stretch>
            <a:fillRect/>
          </a:stretch>
        </p:blipFill>
        <p:spPr>
          <a:xfrm>
            <a:off x="7523988" y="3693008"/>
            <a:ext cx="2037604" cy="182265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C9C0348A-2FE1-6744-F825-6FBAAC32B5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602" t="4927" r="4304" b="44042"/>
          <a:stretch>
            <a:fillRect/>
          </a:stretch>
        </p:blipFill>
        <p:spPr>
          <a:xfrm>
            <a:off x="5133464" y="3572921"/>
            <a:ext cx="1925071" cy="2062832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88064304-48EE-F7B8-0421-A1AF3B4EC429}"/>
              </a:ext>
            </a:extLst>
          </p:cNvPr>
          <p:cNvSpPr txBox="1"/>
          <p:nvPr/>
        </p:nvSpPr>
        <p:spPr>
          <a:xfrm>
            <a:off x="5534025" y="3164992"/>
            <a:ext cx="4115229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ko-KR" altLang="en-US" dirty="0"/>
              <a:t>공격 모션</a:t>
            </a:r>
            <a:r>
              <a:rPr lang="en-US" altLang="ko-KR" dirty="0"/>
              <a:t>3,4</a:t>
            </a:r>
            <a:r>
              <a:rPr lang="ko-KR" altLang="en-US" dirty="0"/>
              <a:t>동안 데미지 </a:t>
            </a:r>
            <a:r>
              <a:rPr lang="en-US" altLang="ko-KR" dirty="0"/>
              <a:t>collider</a:t>
            </a:r>
            <a:r>
              <a:rPr lang="ko-KR" altLang="en-US" dirty="0"/>
              <a:t>생성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4143809A-2C71-FA79-E722-4B5AC3BBD0C4}"/>
              </a:ext>
            </a:extLst>
          </p:cNvPr>
          <p:cNvSpPr/>
          <p:nvPr/>
        </p:nvSpPr>
        <p:spPr>
          <a:xfrm>
            <a:off x="5219700" y="3572921"/>
            <a:ext cx="1694939" cy="18375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457F4C29-1771-D2C9-CFBD-2168E699CFE9}"/>
              </a:ext>
            </a:extLst>
          </p:cNvPr>
          <p:cNvSpPr/>
          <p:nvPr/>
        </p:nvSpPr>
        <p:spPr>
          <a:xfrm>
            <a:off x="7380092" y="3534545"/>
            <a:ext cx="2181500" cy="18375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37799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64B83-A8FC-3A2E-84AE-C8B87EF17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94EF8AA-C46E-C35F-5923-CB1F8BABD9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29" r="74375" b="54057"/>
          <a:stretch>
            <a:fillRect/>
          </a:stretch>
        </p:blipFill>
        <p:spPr>
          <a:xfrm>
            <a:off x="6848477" y="1472897"/>
            <a:ext cx="1771650" cy="1544792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8783B8A-EC3C-D308-ABC0-3D85B3E898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7823255"/>
              </p:ext>
            </p:extLst>
          </p:nvPr>
        </p:nvGraphicFramePr>
        <p:xfrm>
          <a:off x="296800" y="234632"/>
          <a:ext cx="3275075" cy="100372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62954">
                  <a:extLst>
                    <a:ext uri="{9D8B030D-6E8A-4147-A177-3AD203B41FA5}">
                      <a16:colId xmlns:a16="http://schemas.microsoft.com/office/drawing/2014/main" val="3234171030"/>
                    </a:ext>
                  </a:extLst>
                </a:gridCol>
                <a:gridCol w="2412121">
                  <a:extLst>
                    <a:ext uri="{9D8B030D-6E8A-4147-A177-3AD203B41FA5}">
                      <a16:colId xmlns:a16="http://schemas.microsoft.com/office/drawing/2014/main" val="356375298"/>
                    </a:ext>
                  </a:extLst>
                </a:gridCol>
              </a:tblGrid>
              <a:tr h="50186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동작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4934788"/>
                  </a:ext>
                </a:extLst>
              </a:tr>
              <a:tr h="50186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Idle</a:t>
                      </a:r>
                      <a:endParaRPr lang="ko-KR" altLang="en-US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기본 </a:t>
                      </a:r>
                      <a:r>
                        <a:rPr lang="ko-KR" altLang="en-US" dirty="0" err="1"/>
                        <a:t>일반몹</a:t>
                      </a:r>
                      <a:r>
                        <a:rPr lang="ko-KR" altLang="en-US" dirty="0"/>
                        <a:t> </a:t>
                      </a:r>
                      <a:r>
                        <a:rPr lang="en-US" altLang="ko-KR" dirty="0"/>
                        <a:t>idle</a:t>
                      </a:r>
                      <a:r>
                        <a:rPr lang="ko-KR" altLang="en-US" dirty="0"/>
                        <a:t>상태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0346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44A0DDAE-6E3A-F67D-3366-9F80D73EBB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9862984"/>
              </p:ext>
            </p:extLst>
          </p:nvPr>
        </p:nvGraphicFramePr>
        <p:xfrm>
          <a:off x="296800" y="1525187"/>
          <a:ext cx="3275075" cy="108119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17700">
                  <a:extLst>
                    <a:ext uri="{9D8B030D-6E8A-4147-A177-3AD203B41FA5}">
                      <a16:colId xmlns:a16="http://schemas.microsoft.com/office/drawing/2014/main" val="3234171030"/>
                    </a:ext>
                  </a:extLst>
                </a:gridCol>
                <a:gridCol w="1857375">
                  <a:extLst>
                    <a:ext uri="{9D8B030D-6E8A-4147-A177-3AD203B41FA5}">
                      <a16:colId xmlns:a16="http://schemas.microsoft.com/office/drawing/2014/main" val="356375298"/>
                    </a:ext>
                  </a:extLst>
                </a:gridCol>
              </a:tblGrid>
              <a:tr h="4411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동작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4934788"/>
                  </a:ext>
                </a:extLst>
              </a:tr>
              <a:tr h="50186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카메라 영역 </a:t>
                      </a:r>
                      <a:r>
                        <a:rPr lang="en-US" altLang="ko-KR" dirty="0"/>
                        <a:t>in</a:t>
                      </a:r>
                      <a:endParaRPr lang="ko-KR" altLang="en-US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Battle</a:t>
                      </a:r>
                      <a:r>
                        <a:rPr lang="ko-KR" altLang="en-US" dirty="0"/>
                        <a:t>시작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en-US" altLang="ko-KR" dirty="0"/>
                        <a:t>Idle</a:t>
                      </a:r>
                      <a:r>
                        <a:rPr lang="ko-KR" altLang="en-US" dirty="0"/>
                        <a:t>상태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034679"/>
                  </a:ext>
                </a:extLst>
              </a:tr>
            </a:tbl>
          </a:graphicData>
        </a:graphic>
      </p:graphicFrame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CAE8D3B1-38CC-5192-2891-29A1EA44BAC5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1934337" y="1238356"/>
            <a:ext cx="0" cy="28683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F41A9E10-18F0-B501-BBD4-D24A6D9A0F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4996137"/>
              </p:ext>
            </p:extLst>
          </p:nvPr>
        </p:nvGraphicFramePr>
        <p:xfrm>
          <a:off x="113538" y="3429000"/>
          <a:ext cx="4838700" cy="13981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0537">
                  <a:extLst>
                    <a:ext uri="{9D8B030D-6E8A-4147-A177-3AD203B41FA5}">
                      <a16:colId xmlns:a16="http://schemas.microsoft.com/office/drawing/2014/main" val="3234171030"/>
                    </a:ext>
                  </a:extLst>
                </a:gridCol>
                <a:gridCol w="2828163">
                  <a:extLst>
                    <a:ext uri="{9D8B030D-6E8A-4147-A177-3AD203B41FA5}">
                      <a16:colId xmlns:a16="http://schemas.microsoft.com/office/drawing/2014/main" val="356375298"/>
                    </a:ext>
                  </a:extLst>
                </a:gridCol>
              </a:tblGrid>
              <a:tr h="294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동작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4934788"/>
                  </a:ext>
                </a:extLst>
              </a:tr>
              <a:tr h="454841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정해진 </a:t>
                      </a:r>
                      <a:r>
                        <a:rPr lang="en-US" altLang="ko-KR" dirty="0"/>
                        <a:t>y</a:t>
                      </a:r>
                      <a:r>
                        <a:rPr lang="ko-KR" altLang="en-US" dirty="0"/>
                        <a:t>축으로 </a:t>
                      </a:r>
                      <a:r>
                        <a:rPr lang="en-US" altLang="ko-KR" dirty="0"/>
                        <a:t>x</a:t>
                      </a:r>
                      <a:r>
                        <a:rPr lang="ko-KR" altLang="en-US" dirty="0"/>
                        <a:t>축 좌우 반복 이동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기본 </a:t>
                      </a:r>
                      <a:r>
                        <a:rPr lang="ko-KR" altLang="en-US" dirty="0" err="1"/>
                        <a:t>일반몹</a:t>
                      </a:r>
                      <a:r>
                        <a:rPr lang="ko-KR" altLang="en-US" dirty="0"/>
                        <a:t> 움직임애니메이션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034679"/>
                  </a:ext>
                </a:extLst>
              </a:tr>
              <a:tr h="392346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</a:t>
                      </a:r>
                      <a:r>
                        <a:rPr lang="ko-KR" altLang="en-US" dirty="0" err="1"/>
                        <a:t>초뒤에</a:t>
                      </a:r>
                      <a:r>
                        <a:rPr lang="ko-KR" altLang="en-US" dirty="0"/>
                        <a:t> 좌우 변화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214135"/>
                  </a:ext>
                </a:extLst>
              </a:tr>
            </a:tbl>
          </a:graphicData>
        </a:graphic>
      </p:graphicFrame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755C4B4C-B070-6CF9-1B22-104732CAD5ED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>
            <a:off x="1934337" y="2606379"/>
            <a:ext cx="598551" cy="82262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70DA8A0F-97D7-82B5-0E62-CE319656F435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532888" y="4827186"/>
            <a:ext cx="0" cy="88922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A8A41654-E633-0141-6F08-8ED2172884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6698710"/>
              </p:ext>
            </p:extLst>
          </p:nvPr>
        </p:nvGraphicFramePr>
        <p:xfrm>
          <a:off x="960499" y="5716408"/>
          <a:ext cx="3562350" cy="9431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42054">
                  <a:extLst>
                    <a:ext uri="{9D8B030D-6E8A-4147-A177-3AD203B41FA5}">
                      <a16:colId xmlns:a16="http://schemas.microsoft.com/office/drawing/2014/main" val="3234171030"/>
                    </a:ext>
                  </a:extLst>
                </a:gridCol>
                <a:gridCol w="2020296">
                  <a:extLst>
                    <a:ext uri="{9D8B030D-6E8A-4147-A177-3AD203B41FA5}">
                      <a16:colId xmlns:a16="http://schemas.microsoft.com/office/drawing/2014/main" val="356375298"/>
                    </a:ext>
                  </a:extLst>
                </a:gridCol>
              </a:tblGrid>
              <a:tr h="44133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동작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4934788"/>
                  </a:ext>
                </a:extLst>
              </a:tr>
              <a:tr h="50186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좌우 </a:t>
                      </a:r>
                      <a:r>
                        <a:rPr lang="ko-KR" altLang="en-US" dirty="0" err="1"/>
                        <a:t>변환전</a:t>
                      </a:r>
                      <a:endParaRPr lang="ko-KR" altLang="en-US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공격 애니메이션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034679"/>
                  </a:ext>
                </a:extLst>
              </a:tr>
            </a:tbl>
          </a:graphicData>
        </a:graphic>
      </p:graphicFrame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9A89D752-9520-5C9C-DB49-6F52820B4FE5}"/>
              </a:ext>
            </a:extLst>
          </p:cNvPr>
          <p:cNvCxnSpPr>
            <a:cxnSpLocks/>
          </p:cNvCxnSpPr>
          <p:nvPr/>
        </p:nvCxnSpPr>
        <p:spPr>
          <a:xfrm flipV="1">
            <a:off x="3114675" y="4827186"/>
            <a:ext cx="0" cy="82262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화살표: 오른쪽 21">
            <a:extLst>
              <a:ext uri="{FF2B5EF4-FFF2-40B4-BE49-F238E27FC236}">
                <a16:creationId xmlns:a16="http://schemas.microsoft.com/office/drawing/2014/main" id="{C193CB6E-D613-8483-EEA7-D0E0D1C3D695}"/>
              </a:ext>
            </a:extLst>
          </p:cNvPr>
          <p:cNvSpPr/>
          <p:nvPr/>
        </p:nvSpPr>
        <p:spPr>
          <a:xfrm>
            <a:off x="6505575" y="2947987"/>
            <a:ext cx="2409825" cy="27622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화살표: 오른쪽 22">
            <a:extLst>
              <a:ext uri="{FF2B5EF4-FFF2-40B4-BE49-F238E27FC236}">
                <a16:creationId xmlns:a16="http://schemas.microsoft.com/office/drawing/2014/main" id="{283019BD-6369-B8D8-6D2C-5F975E4E6880}"/>
              </a:ext>
            </a:extLst>
          </p:cNvPr>
          <p:cNvSpPr/>
          <p:nvPr/>
        </p:nvSpPr>
        <p:spPr>
          <a:xfrm rot="10800000">
            <a:off x="6505575" y="3357564"/>
            <a:ext cx="2409825" cy="27622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07198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BC674-DF24-E3FA-4BAF-DC2133BCF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35175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CD16B-10DD-97AD-F988-3615B6C75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35386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E9118-1D64-7F62-B750-54775C236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04835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7190B-74E5-2EE0-3313-ADB70782C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063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1644</TotalTime>
  <Words>102</Words>
  <Application>Microsoft Office PowerPoint</Application>
  <PresentationFormat>와이드스크린</PresentationFormat>
  <Paragraphs>50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sungjun kim</dc:creator>
  <cp:lastModifiedBy>sungjun kim</cp:lastModifiedBy>
  <cp:revision>2</cp:revision>
  <dcterms:created xsi:type="dcterms:W3CDTF">2026-09-03T21:40:29Z</dcterms:created>
  <dcterms:modified xsi:type="dcterms:W3CDTF">2026-09-05T01:05:26Z</dcterms:modified>
</cp:coreProperties>
</file>